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f3750a67545e1" /><Relationship Type="http://schemas.openxmlformats.org/officeDocument/2006/relationships/extended-properties" Target="/docProps/app.xml" Id="R8de12110491d4bc7" /><Relationship Type="http://schemas.openxmlformats.org/officeDocument/2006/relationships/officeDocument" Target="/ppt/presentation.xml" Id="R67ecf9c394a7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66a94337948a7"/>
  </p:sldMasterIdLst>
  <p:notesMasterIdLst>
    <p:notesMasterId xmlns:r="http://schemas.openxmlformats.org/officeDocument/2006/relationships" r:id="R7cb30e13740e4669"/>
  </p:notesMasterIdLst>
  <p:sldIdLst>
    <p:sldId xmlns:r="http://schemas.openxmlformats.org/officeDocument/2006/relationships" id="256" r:id="Rfca6d2a64b9d4a39"/>
    <p:sldId xmlns:r="http://schemas.openxmlformats.org/officeDocument/2006/relationships" id="257" r:id="R770f362782574a16"/>
    <p:sldId xmlns:r="http://schemas.openxmlformats.org/officeDocument/2006/relationships" id="258" r:id="R6326660facde42bc"/>
    <p:sldId xmlns:r="http://schemas.openxmlformats.org/officeDocument/2006/relationships" id="259" r:id="R0a7c0f8d858f49ec"/>
    <p:sldId xmlns:r="http://schemas.openxmlformats.org/officeDocument/2006/relationships" id="260" r:id="R9ba24ad70d6c4758"/>
    <p:sldId xmlns:r="http://schemas.openxmlformats.org/officeDocument/2006/relationships" id="261" r:id="Reca75d6049c44754"/>
    <p:sldId xmlns:r="http://schemas.openxmlformats.org/officeDocument/2006/relationships" id="262" r:id="R428522cd62f74d5f"/>
    <p:sldId xmlns:r="http://schemas.openxmlformats.org/officeDocument/2006/relationships" id="263" r:id="Rceae6159b7404ea7"/>
    <p:sldId xmlns:r="http://schemas.openxmlformats.org/officeDocument/2006/relationships" id="264" r:id="R3f2df7f4dc14471f"/>
    <p:sldId xmlns:r="http://schemas.openxmlformats.org/officeDocument/2006/relationships" id="265" r:id="Rc5ffcfb43f3740e4"/>
    <p:sldId xmlns:r="http://schemas.openxmlformats.org/officeDocument/2006/relationships" id="266" r:id="R076663bd05354943"/>
    <p:sldId xmlns:r="http://schemas.openxmlformats.org/officeDocument/2006/relationships" id="267" r:id="R2d54a78c05424ec6"/>
    <p:sldId xmlns:r="http://schemas.openxmlformats.org/officeDocument/2006/relationships" id="268" r:id="R0f087e6f7e9c4887"/>
    <p:sldId xmlns:r="http://schemas.openxmlformats.org/officeDocument/2006/relationships" id="269" r:id="R795a7c52b9c74ac3"/>
    <p:sldId xmlns:r="http://schemas.openxmlformats.org/officeDocument/2006/relationships" id="270" r:id="R88a4a648d6c241b9"/>
    <p:sldId xmlns:r="http://schemas.openxmlformats.org/officeDocument/2006/relationships" id="271" r:id="R83d392f7dccd4940"/>
    <p:sldId xmlns:r="http://schemas.openxmlformats.org/officeDocument/2006/relationships" id="272" r:id="Rae81fe8b5f9b4c50"/>
    <p:sldId xmlns:r="http://schemas.openxmlformats.org/officeDocument/2006/relationships" id="273" r:id="R35688655453041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69c1b843e4278" /><Relationship Type="http://schemas.openxmlformats.org/officeDocument/2006/relationships/slideMaster" Target="/ppt/slideMasters/slideMaster1.xml" Id="R38366a94337948a7" /><Relationship Type="http://schemas.openxmlformats.org/officeDocument/2006/relationships/notesMaster" Target="/ppt/notesMasters/notesMaster1.xml" Id="R7cb30e13740e4669" /><Relationship Type="http://schemas.openxmlformats.org/officeDocument/2006/relationships/presProps" Target="/ppt/presProps.xml" Id="R1d46a787cbdf4b8a" /><Relationship Type="http://schemas.openxmlformats.org/officeDocument/2006/relationships/tableStyles" Target="/ppt/tableStyles.xml" Id="Re0eae1f8091e46dd" /><Relationship Type="http://schemas.openxmlformats.org/officeDocument/2006/relationships/slide" Target="/ppt/slides/slide1.xml" Id="Rfca6d2a64b9d4a39" /><Relationship Type="http://schemas.openxmlformats.org/officeDocument/2006/relationships/slide" Target="/ppt/slides/slide2.xml" Id="R770f362782574a16" /><Relationship Type="http://schemas.openxmlformats.org/officeDocument/2006/relationships/slide" Target="/ppt/slides/slide3.xml" Id="R6326660facde42bc" /><Relationship Type="http://schemas.openxmlformats.org/officeDocument/2006/relationships/slide" Target="/ppt/slides/slide4.xml" Id="R0a7c0f8d858f49ec" /><Relationship Type="http://schemas.openxmlformats.org/officeDocument/2006/relationships/slide" Target="/ppt/slides/slide5.xml" Id="R9ba24ad70d6c4758" /><Relationship Type="http://schemas.openxmlformats.org/officeDocument/2006/relationships/slide" Target="/ppt/slides/slide6.xml" Id="Reca75d6049c44754" /><Relationship Type="http://schemas.openxmlformats.org/officeDocument/2006/relationships/slide" Target="/ppt/slides/slide7.xml" Id="R428522cd62f74d5f" /><Relationship Type="http://schemas.openxmlformats.org/officeDocument/2006/relationships/slide" Target="/ppt/slides/slide8.xml" Id="Rceae6159b7404ea7" /><Relationship Type="http://schemas.openxmlformats.org/officeDocument/2006/relationships/slide" Target="/ppt/slides/slide9.xml" Id="R3f2df7f4dc14471f" /><Relationship Type="http://schemas.openxmlformats.org/officeDocument/2006/relationships/slide" Target="/ppt/slides/slide10.xml" Id="Rc5ffcfb43f3740e4" /><Relationship Type="http://schemas.openxmlformats.org/officeDocument/2006/relationships/slide" Target="/ppt/slides/slide11.xml" Id="R076663bd05354943" /><Relationship Type="http://schemas.openxmlformats.org/officeDocument/2006/relationships/slide" Target="/ppt/slides/slide12.xml" Id="R2d54a78c05424ec6" /><Relationship Type="http://schemas.openxmlformats.org/officeDocument/2006/relationships/slide" Target="/ppt/slides/slide13.xml" Id="R0f087e6f7e9c4887" /><Relationship Type="http://schemas.openxmlformats.org/officeDocument/2006/relationships/slide" Target="/ppt/slides/slide14.xml" Id="R795a7c52b9c74ac3" /><Relationship Type="http://schemas.openxmlformats.org/officeDocument/2006/relationships/slide" Target="/ppt/slides/slide15.xml" Id="R88a4a648d6c241b9" /><Relationship Type="http://schemas.openxmlformats.org/officeDocument/2006/relationships/slide" Target="/ppt/slides/slide16.xml" Id="R83d392f7dccd4940" /><Relationship Type="http://schemas.openxmlformats.org/officeDocument/2006/relationships/slide" Target="/ppt/slides/slide17.xml" Id="Rae81fe8b5f9b4c50" /><Relationship Type="http://schemas.openxmlformats.org/officeDocument/2006/relationships/slide" Target="/ppt/slides/slide18.xml" Id="R356886554530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73509be054e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3b88f4db234aa9" /><Relationship Type="http://schemas.openxmlformats.org/officeDocument/2006/relationships/notesMaster" Target="/ppt/notesMasters/notesMaster1.xml" Id="R92095d8dfd2f40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055bdccaa74643" /><Relationship Type="http://schemas.openxmlformats.org/officeDocument/2006/relationships/notesMaster" Target="/ppt/notesMasters/notesMaster1.xml" Id="R8ecc523af4a44a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e918982e18496c" /><Relationship Type="http://schemas.openxmlformats.org/officeDocument/2006/relationships/notesMaster" Target="/ppt/notesMasters/notesMaster1.xml" Id="R09a78aa0a03c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f2f2e310654c1c" /><Relationship Type="http://schemas.openxmlformats.org/officeDocument/2006/relationships/notesMaster" Target="/ppt/notesMasters/notesMaster1.xml" Id="R65c073863828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44398d6bb24727" /><Relationship Type="http://schemas.openxmlformats.org/officeDocument/2006/relationships/notesMaster" Target="/ppt/notesMasters/notesMaster1.xml" Id="R971f312077624a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e7d9c007541bf" /><Relationship Type="http://schemas.openxmlformats.org/officeDocument/2006/relationships/notesMaster" Target="/ppt/notesMasters/notesMaster1.xml" Id="Rb8447eccb08146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b31534cf9544e8" /><Relationship Type="http://schemas.openxmlformats.org/officeDocument/2006/relationships/notesMaster" Target="/ppt/notesMasters/notesMaster1.xml" Id="R32e0a18a2f7b4d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10165a35014b7f" /><Relationship Type="http://schemas.openxmlformats.org/officeDocument/2006/relationships/notesMaster" Target="/ppt/notesMasters/notesMaster1.xml" Id="Rf5d4d8954c6f44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646db7fbc740d9" /><Relationship Type="http://schemas.openxmlformats.org/officeDocument/2006/relationships/notesMaster" Target="/ppt/notesMasters/notesMaster1.xml" Id="R5d99e8ebea8d49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f057c7cf574b79" /><Relationship Type="http://schemas.openxmlformats.org/officeDocument/2006/relationships/notesMaster" Target="/ppt/notesMasters/notesMaster1.xml" Id="R0969da9b944b48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1065b95a294011" /><Relationship Type="http://schemas.openxmlformats.org/officeDocument/2006/relationships/notesMaster" Target="/ppt/notesMasters/notesMaster1.xml" Id="R216fc489a14c4e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8d0dc40de44f12" /><Relationship Type="http://schemas.openxmlformats.org/officeDocument/2006/relationships/notesMaster" Target="/ppt/notesMasters/notesMaster1.xml" Id="R0f29b0bba16246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ded0733d004251" /><Relationship Type="http://schemas.openxmlformats.org/officeDocument/2006/relationships/notesMaster" Target="/ppt/notesMasters/notesMaster1.xml" Id="R82926c8a90d946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7061cefec34f7d" /><Relationship Type="http://schemas.openxmlformats.org/officeDocument/2006/relationships/notesMaster" Target="/ppt/notesMasters/notesMaster1.xml" Id="R998d2343e3ef41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1ded8ceca84985" /><Relationship Type="http://schemas.openxmlformats.org/officeDocument/2006/relationships/notesMaster" Target="/ppt/notesMasters/notesMaster1.xml" Id="Rd03dfbb1a0b649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85c5141c004261" /><Relationship Type="http://schemas.openxmlformats.org/officeDocument/2006/relationships/notesMaster" Target="/ppt/notesMasters/notesMaster1.xml" Id="R03aa40a6741a4c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d52e03f9384770" /><Relationship Type="http://schemas.openxmlformats.org/officeDocument/2006/relationships/notesMaster" Target="/ppt/notesMasters/notesMaster1.xml" Id="R530151b4de4c45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04fe64fcab4ada" /><Relationship Type="http://schemas.openxmlformats.org/officeDocument/2006/relationships/notesMaster" Target="/ppt/notesMasters/notesMaster1.xml" Id="Ra5436da61e26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4c12b21074f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b6fda9f93440e9" /><Relationship Type="http://schemas.openxmlformats.org/officeDocument/2006/relationships/slideLayout" Target="/ppt/slideLayouts/slideLayout1.xml" Id="R2dfd4e5939f6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d4e5939f6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359dd8d3a49d7" /><Relationship Type="http://schemas.openxmlformats.org/officeDocument/2006/relationships/image" Target="/ppt/media/image.jpeg" Id="R644e9caaf7304314" /><Relationship Type="http://schemas.openxmlformats.org/officeDocument/2006/relationships/notesSlide" Target="/ppt/notesSlides/notesSlide1.xml" Id="R113720f354a3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3c5ec0cb94ed2" /><Relationship Type="http://schemas.openxmlformats.org/officeDocument/2006/relationships/notesSlide" Target="/ppt/notesSlides/notesSlide2.xml" Id="R3dfd14f74ab849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6776fcd1f44a1" /><Relationship Type="http://schemas.openxmlformats.org/officeDocument/2006/relationships/image" Target="/ppt/media/image.gif" Id="Rfdf696ac81564670" /><Relationship Type="http://schemas.openxmlformats.org/officeDocument/2006/relationships/notesSlide" Target="/ppt/notesSlides/notesSlide3.xml" Id="R1fec82d3d56b45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a721084fb438a" /><Relationship Type="http://schemas.openxmlformats.org/officeDocument/2006/relationships/image" Target="/ppt/media/image.png" Id="R1ed4e570f4a94d2e" /><Relationship Type="http://schemas.openxmlformats.org/officeDocument/2006/relationships/notesSlide" Target="/ppt/notesSlides/notesSlide4.xml" Id="Rc010210a5d9d4f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8638e2fa74241" /><Relationship Type="http://schemas.openxmlformats.org/officeDocument/2006/relationships/notesSlide" Target="/ppt/notesSlides/notesSlide5.xml" Id="R0efbbfbefd9d4a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58be1c63438e" /><Relationship Type="http://schemas.openxmlformats.org/officeDocument/2006/relationships/image" Target="/ppt/media/image2.png" Id="R1caca2a99bc14783" /><Relationship Type="http://schemas.openxmlformats.org/officeDocument/2006/relationships/notesSlide" Target="/ppt/notesSlides/notesSlide6.xml" Id="R540a7a914d384b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c79437e854607" /><Relationship Type="http://schemas.openxmlformats.org/officeDocument/2006/relationships/notesSlide" Target="/ppt/notesSlides/notesSlide7.xml" Id="R3e9ece6439dc4b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214c634af4643" /><Relationship Type="http://schemas.openxmlformats.org/officeDocument/2006/relationships/image" Target="/ppt/media/image3.png" Id="R409f23db108d4369" /><Relationship Type="http://schemas.openxmlformats.org/officeDocument/2006/relationships/notesSlide" Target="/ppt/notesSlides/notesSlide8.xml" Id="Rd5be99d0fde24e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9c0b919d542d6" /><Relationship Type="http://schemas.openxmlformats.org/officeDocument/2006/relationships/image" Target="/ppt/media/image4.png" Id="Re2d63a24dc8e45db" /><Relationship Type="http://schemas.openxmlformats.org/officeDocument/2006/relationships/notesSlide" Target="/ppt/notesSlides/notesSlide9.xml" Id="Rfea2cc1002fe45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269f6df1440ad" /><Relationship Type="http://schemas.openxmlformats.org/officeDocument/2006/relationships/notesSlide" Target="/ppt/notesSlides/notesSlide10.xml" Id="R2382e23999144c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e9b6bcb1d470c" /><Relationship Type="http://schemas.openxmlformats.org/officeDocument/2006/relationships/notesSlide" Target="/ppt/notesSlides/notesSlide11.xml" Id="R85d5b98a2dde44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fa97a7f204d18" /><Relationship Type="http://schemas.openxmlformats.org/officeDocument/2006/relationships/notesSlide" Target="/ppt/notesSlides/notesSlide12.xml" Id="R8bf8861b9f1641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d1772fb7840d6" /><Relationship Type="http://schemas.openxmlformats.org/officeDocument/2006/relationships/image" Target="/ppt/media/image2.jpeg" Id="Rddae0b955c814968" /><Relationship Type="http://schemas.openxmlformats.org/officeDocument/2006/relationships/notesSlide" Target="/ppt/notesSlides/notesSlide13.xml" Id="R1866650d11b14c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8d577cbf24e93" /><Relationship Type="http://schemas.openxmlformats.org/officeDocument/2006/relationships/image" Target="/ppt/media/image3.jpeg" Id="Rb236f5d7cf29468b" /><Relationship Type="http://schemas.openxmlformats.org/officeDocument/2006/relationships/notesSlide" Target="/ppt/notesSlides/notesSlide14.xml" Id="Reeea2f4b6ed64a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84e4c70c54e58" /><Relationship Type="http://schemas.openxmlformats.org/officeDocument/2006/relationships/notesSlide" Target="/ppt/notesSlides/notesSlide15.xml" Id="R592e0ef685d347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abcbc711a4aa1" /><Relationship Type="http://schemas.openxmlformats.org/officeDocument/2006/relationships/notesSlide" Target="/ppt/notesSlides/notesSlide16.xml" Id="R35e69a0c403343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400f1053e455f" /><Relationship Type="http://schemas.openxmlformats.org/officeDocument/2006/relationships/notesSlide" Target="/ppt/notesSlides/notesSlide17.xml" Id="Ra257688e2ad945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cb4fd12584c1f" /><Relationship Type="http://schemas.openxmlformats.org/officeDocument/2006/relationships/notesSlide" Target="/ppt/notesSlides/notesSlide18.xml" Id="R9080cef5c5ff4b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C56180-9A1F-4994-9DF7-8AD3E1FF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4D4"/>
                </a:solidFill>
              </a:defRPr>
            </a:pPr>
            <a:r>
              <a:rPr sz="3900" b="1">
                <a:solidFill>
                  <a:srgbClr val="FFF4D4"/>
                </a:solidFill>
              </a:rPr>
              <a:t>Eisenzeit-</a:t>
            </a:r>
          </a:p>
          <a:p xmlns:a="http://schemas.openxmlformats.org/drawingml/2006/main">
            <a:pPr>
              <a:defRPr sz="3900" b="1">
                <a:solidFill>
                  <a:srgbClr val="FFF4D4"/>
                </a:solidFill>
              </a:defRPr>
            </a:pPr>
            <a:r>
              <a:rPr sz="3900" b="1">
                <a:solidFill>
                  <a:srgbClr val="FFF4D4"/>
                </a:solidFill>
              </a:rPr>
              <a:t>Netzwerk-Labor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E1372-D229-4A2D-9166-C0D46BAA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9BEA9"/>
                </a:solidFill>
              </a:defRPr>
            </a:pPr>
            <a:r>
              <a:rPr sz="1800">
                <a:solidFill>
                  <a:srgbClr val="C9BEA9"/>
                </a:solidFill>
              </a:rPr>
              <a:t>Mathematische Grundlagen und Bedienlogik der interaktiven Graph-GUI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e9caaf7304314"/>
          <a:srcRect xmlns:a="http://schemas.openxmlformats.org/drawingml/2006/main" l="12454" t="0" r="124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876300"/>
            <a:ext cx="5238750" cy="3924300"/>
          </a:xfrm>
          <a:prstGeom xmlns:a="http://schemas.openxmlformats.org/drawingml/2006/main" prst="roundRect">
            <a:avLst>
              <a:gd name="adj" fmla="val 291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4009B-09A2-4716-ACB9-9A2195A0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895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2F618-F486-4E9F-8209-B8C01EA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Ziel: Fundorte, Transporthypothesen, Münzähnlichkeit und eine massenerhaltende, reisezeitbasierte Simulation in einem editierbaren Forschungsmodell zusammenführen.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437AC-5FC4-4882-B81E-2CF14DF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A927F"/>
                </a:solidFill>
              </a:defRPr>
            </a:pPr>
            <a:r>
              <a:rPr sz="1050">
                <a:solidFill>
                  <a:srgbClr val="9A927F"/>
                </a:solidFill>
              </a:rPr>
              <a:t>Lokales Projekt · Stand 07.07.2026</a:t>
            </a:r>
          </a:p>
        </p:txBody>
      </p:sp>
    </p:spTree>
    <p:extLst>
      <p:ext uri="{BB962C8B-B14F-4D97-AF65-F5344CB8AC3E}">
        <p14:creationId xmlns:p14="http://schemas.microsoft.com/office/powerpoint/2010/main" val="1727455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E6A0C0-6045-4355-8173-7811BB1C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EINORDNUNG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8FDB0-1EAF-4B99-95FF-C6AC9E6D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Das Modell übersetzt archäologische Beobachtung in ein prüfbares Netz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989DD-2EEE-4A97-A09B-EA675B22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DDB58-0CAC-44D2-BE35-4045846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FUNDORTE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8F65A-00DE-4509-9401-3954627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182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8ED1E-9882-4FD9-A701-44A30077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383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D9425-731D-4D7F-98E4-535EC448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KANTEN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0768D-37AE-435B-89E6-0CFF0DD6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375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B411B-A50D-4F1F-A67C-CBA401D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0CCB9-DD08-45B7-B3EC-BDCD6233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MÜNZDATENSÄTZE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7F805-5F8D-43F4-BE0B-7C9C2A3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7.035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F962E-DBE2-4E45-B5A8-464313E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F757E-0D01-4E90-9566-CB0227CA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TYPCODES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DD835-EC37-4201-816A-3DBFC831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148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7EBEB-810F-4984-8C8C-D752305B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43D5D-1287-4656-B5B0-C98ED627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56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Knoten sind Fundorte mit Koordinaten, Kontext, editierbarer Siedlungsgröße und Startmünzmenge.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10674-C336-4AF8-91DF-9A0207B3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DB4B7-6C78-44D8-BB9A-CAC2E41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956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Kanten sind keine behaupteten Altstraßen, sondern explizit markierte Verbindungshypothesen.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031ED-28C6-40BE-A57C-28AC8D61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1F49C-1AA3-4481-BDDF-3F323565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56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Die Simulation erhält die Gesamtmenge und verteilt Münzen entlang von Leitfähigkeiten, die aus Reisezeit, Modus und Handelsgewicht entstehen.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A9C30-CC26-4F86-AD64-FF01789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7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E3B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AC6AB-150F-4CA4-AF5C-D9E041E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38800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4D4"/>
                </a:solidFill>
              </a:defRPr>
            </a:pPr>
            <a:r>
              <a:rPr sz="1275" b="1">
                <a:solidFill>
                  <a:srgbClr val="FFF4D4"/>
                </a:solidFill>
              </a:rPr>
              <a:t>Wichtig: Jede Zahl ist im Interface veränderbar; das Deck erklärt die Default-Logik, nicht eine endgültige historische Wahrheit.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046F4-7DB6-4294-B7EB-722E0D6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750E6-1DF9-408F-AEF2-26FEE27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1213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C076A-AA40-4686-99CE-0DDFF22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ANIMATIONSBEISPIEL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75D47-5DD0-409E-B092-D6E7D47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Drei entfernte Startpunkte zeigen die Ausbreitung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696ac81564670"/>
          <a:stretch xmlns:a="http://schemas.openxmlformats.org/drawingml/2006/main"/>
        </p:blipFill>
        <p:spPr>
          <a:xfrm xmlns:a="http://schemas.openxmlformats.org/drawingml/2006/main">
            <a:off x="1178719" y="1257300"/>
            <a:ext cx="4233863" cy="48006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8FCE1-1287-46F2-9189-307E7368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2291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86577-11C5-464F-83B7-18E4B873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52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STARTVERTEILUNG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C3213-59F0-4D74-BC85-B0F66FB9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FAF10-BAE1-4735-B897-E27DE8C5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Carcassonne: 100 Münzen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89735-8E7C-414A-B904-080210A9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43996-449C-47BF-8EDF-227A748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Hundisburg: 100 Münzen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C8CF-ECC4-442F-B469-E7F83358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1DA0F-3481-4D07-8C0A-CC8227C3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Trencianske Bohuslavice: 100 Münzen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F4427-F9FF-4743-B336-116E9292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WAS DIE ANIMATION ZEIGT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3FA1E-FA42-47FE-A7AB-25A2AE46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3390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BEA9"/>
                </a:solidFill>
              </a:defRPr>
            </a:pPr>
            <a:r>
              <a:rPr sz="1350">
                <a:solidFill>
                  <a:srgbClr val="C9BEA9"/>
                </a:solidFill>
              </a:rPr>
              <a:t>Die Münzen bleiben als Summe erhalten, verteilen sich aber entlang der aktiven Kanten. Reisezeit, Modus, Handelsstärke und Leitfähigkeit bestimmen, wie stark jeder Korridor zieht.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3CA7C-5F6F-4B1E-BAF6-11ADF59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38800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78B5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49153-68A7-403A-9452-8147E55F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4D4"/>
                </a:solidFill>
              </a:defRPr>
            </a:pPr>
            <a:r>
              <a:rPr sz="1275" b="1">
                <a:solidFill>
                  <a:srgbClr val="FFF4D4"/>
                </a:solidFill>
              </a:rPr>
              <a:t>Startsumme: 300 Münzen · Zeithorizont: −250 bis −50 · GIF läuft im Präsentationsmodus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4C817-1CA5-4D94-B68F-74C2D159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F41C2-C40E-4D49-8521-E767095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8175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20A92-F10F-43DD-8DA8-CBB895AD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GRAPHSTRUKTUR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0DBAE-8D90-4EB6-9F17-39BDE523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Der Graph besteht aus Fundortknoten und gewichteten Transportkanten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12888-14D7-4A9E-B492-50722459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7CA9E-A6A8-4B67-B3E2-01D057E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G = (V, 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21FC4-1A3C-48B2-A585-9B33C443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422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V enthält die Fundorte; E enthält paarweise Verbindungen mit Distanz, Modus, Stärke und Evidenzbasis.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002FD-3CDC-48DF-ADF1-1053F6B0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26065-70AC-491F-99F9-E3046B30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52600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eᵢⱼ = (i, j, m, s, d, τ, h, 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42C6-D4D6-4D04-80A2-1FE4463F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422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Eine Kante speichert Verkehrsmodus m, Handelsstärke s, Distanz d, Terrainfaktor τ, Reisezeit h und Münzproxy p.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4e570f4a94d2e"/>
          <a:srcRect xmlns:a="http://schemas.openxmlformats.org/drawingml/2006/main" l="0" t="20454" r="0" b="20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71850"/>
            <a:ext cx="485775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D6C87-923C-4E79-9BB1-EE8C3CC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E04EA-CCC9-42B7-BDF3-FD192846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Kanten können aktiviert, deaktiviert, gelöscht oder manuell ergänzt werden.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5550E-9A3C-49C0-BE1B-7E6D99C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4B759-4194-4A78-A569-1CB95D9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Jeder Kante ist ein Modus zugeordnet: Landweg, Fluss, See/Küste oder Kurier-/Tiertransport.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C890-22AA-47FE-8EC7-95227EB5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3971B-3F70-4569-8C0F-552157FD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Die Anzeige bleibt eine Hypothesenkarte: römische Itiner-e-Ebenen sind Vergleich, nicht Beweis.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BE685-D6CC-48D7-A6A7-ED42198A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FE1C5-FDFE-41AD-B6DC-7A0438B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3819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816877-63B0-4EAA-A2E5-05339DDD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KANTENGENERATOR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F8FE2-DC0F-4BAB-9BC0-00145F1C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Nicht-römische Wege entstehen aus Nachbarschaft plus Konnektivität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46478-E65D-46CF-A2FE-BB9AA655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E8D9D-4E58-462B-BD62-365A4C2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E₀ = kNN(V, k) ∪ MST(V)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84E4D-5A79-4E39-AEEF-7F4B5AED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61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kNN erzeugt lokale Nachbarschaften; der minimale Spannbaum verhindert isolierte Teilnetze.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FF90-4DE2-4626-9051-0376722C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D3ACE-99D2-4935-B8FF-D16F537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3355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dᵢⱼ ≤ dₘₐₓ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F6942-DC84-483B-A558-8B651C1F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61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Der Generator begrenzt Nachbarschaftskanten standardmäßig auf 180 km; MST-Brücken dürfen größere Lücken schließen.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B6BCD-2C91-42D7-AAF6-9BBC302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667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12A74-E727-49DF-A0A8-BC24989F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WARUM DIESE KONSTRUKTION?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047C1-248F-48BC-834B-3BC6D08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9BEA9"/>
                </a:solidFill>
              </a:defRPr>
            </a:pPr>
            <a:r>
              <a:rPr sz="1425">
                <a:solidFill>
                  <a:srgbClr val="C9BEA9"/>
                </a:solidFill>
              </a:rPr>
              <a:t>Sie liefert ein zusammenhängendes, editierbares Grundnetz, ohne konkrete historische Straßen zu behaupten. Das ist methodisch sauberer als scheinbar exakte Linien ohne Quellenbasis.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AEE90-49DA-4AB7-8BC2-E0049B51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4667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3B6B8-7CDB-4303-A600-9C5F0141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INTERFACE-EINSTELLUNG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A96AB-0088-424E-A5D3-9BC54267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9BEA9"/>
                </a:solidFill>
              </a:defRPr>
            </a:pPr>
            <a:r>
              <a:rPr sz="1425">
                <a:solidFill>
                  <a:srgbClr val="C9BEA9"/>
                </a:solidFill>
              </a:rPr>
              <a:t>Im Panel „Netzgenerator“ lassen sich k und Maximaldistanz ändern. Danach wird das Netz neu berechnet und die Simulation sofort aktualisiert.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478EF-44EB-42E7-BC25-EE066ADA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7B0A6-4C07-453E-BAF8-C6E0C00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5408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25257-525D-457C-82F7-0F989020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TRANSPORTMODI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50D76-F321-4897-8F4E-AA7C880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Wasserwege werden als schnellere und kapazitätsstärkere Kanten behandelt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ca2a99bc14783"/>
          <a:stretch xmlns:a="http://schemas.openxmlformats.org/drawingml/2006/main"/>
        </p:blipFill>
        <p:spPr>
          <a:xfrm xmlns:a="http://schemas.openxmlformats.org/drawingml/2006/main">
            <a:off x="817789" y="1428750"/>
            <a:ext cx="5660571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C23D-E805-46E7-B269-37B3A33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81150"/>
            <a:ext cx="40005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56E4E-10AC-4FF8-897A-1AEF7987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MODUSFAKTOR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4AEFA-3BBB-429C-B5C0-29897FC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445DD-1FF2-4611-A73E-1891C92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hᵢⱼ = dᵢⱼ · τ / vₘ</a:t>
            </a:r>
          </a:p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Qₘ = Kapazitätₘ / Kostenₘ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67081-67F5-4626-A15F-AE58693E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Geschwindigkeit bestimmt die reale Reisezeit; Kosten, Kapazität und Hangempfindlichkeit filtern daraus die Leitfähigkeit.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8D52A-0E4C-4106-98A1-80C8BC3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Fluss- und See-/Küstenboot erhalten niedrige Kosten und hohe Kapazitäten. Das spiegelt die modellhafte Annahme wider, dass schiffbare Gewässer größere Warenmengen effizienter transportieren.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7DDAD-0D9B-45A2-A5A7-D06C1745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A2507-1A5A-4982-A663-F1CA950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1422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AB569-A6B8-4FCF-8158-DB19170D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GRÖSSENKORREKTUR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28C9E-DD76-45F1-9937-572DC36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Die Siedlungsgröße normalisiert Handelsstärke statt sie nur zu addieren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E76E9-6D98-48D6-91D5-E85997C4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933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D4568-A430-4BB3-A296-BA029397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57350"/>
            <a:ext cx="880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Hᵢⱼ = sᵢⱼ / √(gᵢ · gⱼ)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F7D9A-53BD-47F5-A422-B9986B1E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9800"/>
            <a:ext cx="880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Hᵢⱼ ist der normierte Handel, sᵢⱼ die editierbare Kantenstärke, gᵢ und gⱼ die Siedlungsgrößen.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9BCFF-85E2-49B9-9FF3-8FFAF401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D6633-0E6F-45F0-8F25-E5FD40C0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766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STÄRKE 5 BEI GRÖSSE 5 UND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B78BB-051E-4801-ABA6-25A36BC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433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8B58B"/>
                </a:solidFill>
              </a:defRPr>
            </a:pPr>
            <a:r>
              <a:rPr sz="2250" b="1">
                <a:solidFill>
                  <a:srgbClr val="78B58B"/>
                </a:solidFill>
              </a:rPr>
              <a:t>1,00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60AD9-CED1-4BC7-A14A-434E302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E4290-C32F-42BD-86E0-A5F538A2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766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STÄRKE 5 BEI GRÖSSE 10 UND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776B8-7490-497D-9798-F6DD278B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433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F8354"/>
                </a:solidFill>
              </a:defRPr>
            </a:pPr>
            <a:r>
              <a:rPr sz="2250" b="1">
                <a:solidFill>
                  <a:srgbClr val="EF8354"/>
                </a:solidFill>
              </a:rPr>
              <a:t>0,50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38C1E-61F0-4B73-82B0-7781F5A4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3DDA0-E58F-4F2F-96B0-FFF36B2A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8C830-E35C-4CEC-8098-847A26FC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relativ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4D31B-F9D8-46DC-8B30-05881FB0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87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BEA9"/>
                </a:solidFill>
              </a:defRPr>
            </a:pPr>
            <a:r>
              <a:rPr sz="1500">
                <a:solidFill>
                  <a:srgbClr val="C9BEA9"/>
                </a:solidFill>
              </a:rPr>
              <a:t>Damit wird die gleiche absolute Kantenstärke bei größeren Siedlungen weniger dominant. Ein kleiner Ort mit Stärke 5 kann relativ enger eingebunden sein als ein großer Ort mit derselben absoluten Stärke.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FA1DD-F3ED-4FB0-81B2-AF21B0FD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AE227-A8B1-4115-82C0-FDAE791F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390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F801A-74B3-45FB-8839-993F90E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NUMISMATISCHER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2E8F5-B127-49D6-924D-4E4F6AE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Der Münzproxy nutzt nur exakt gemeinsame Typcodes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0527-724A-41B0-A508-1080427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685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0BD9F-B7A5-47BC-9122-6D04AD0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632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Pᵢⱼ = Σ min(cᵢₜ, cⱼₜ) / √(Cᵢ · Cⱼ)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0CD20-10F6-4CF9-80EE-0DEADEF2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632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Für alle aktiven Typen t wird die kleinere gemeinsame Menge addiert und durch die geometrische Gesamtgröße normiert.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f23db108d4369"/>
          <a:srcRect xmlns:a="http://schemas.openxmlformats.org/drawingml/2006/main" l="18043" t="0" r="180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352550"/>
            <a:ext cx="3467100" cy="3962400"/>
          </a:xfrm>
          <a:prstGeom xmlns:a="http://schemas.openxmlformats.org/drawingml/2006/main" prst="roundRect">
            <a:avLst>
              <a:gd name="adj" fmla="val 329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4F46F-0845-4415-A79B-E93C9069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A997A-AE43-41E4-9477-5A493B1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575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„Identisch“ heißt: gleicher Wert in Type | Code, keine unscharfe Typfamilie.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5D440-B58F-437F-9D9C-AE392253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3A860-26F8-4BB7-AEC9-4E6FCDA9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575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Datierungsintervalle filtern Proxy und Bewegung pro Simulationsjahr.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D6971-CC27-4979-BFC7-F9A8F6AA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25DC4-692E-4C89-BBF5-5BEF449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575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Ohne ergänzte Datierungen bleiben Typen optional als beweglich zugelassen.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484E8-8680-48B8-AF9C-E4CF40B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2B2D0-3A43-468F-9706-AFBE9A22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2950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9EAF0F-5677-4075-A2A6-33E5CEC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TYPFILTER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ED499-AEA9-467E-B5AC-02D77F03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Der Typfilter macht Teilmengen vergleichbar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63a24dc8e45db"/>
          <a:stretch xmlns:a="http://schemas.openxmlformats.org/drawingml/2006/main"/>
        </p:blipFill>
        <p:spPr>
          <a:xfrm xmlns:a="http://schemas.openxmlformats.org/drawingml/2006/main">
            <a:off x="1300163" y="1390650"/>
            <a:ext cx="5476875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857E-2340-48AD-83F1-0E762FDE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33375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A443C-9898-4580-A0CA-A7F403A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WAS WIRD GEFILTERT?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D549F-BCB7-42FD-8AA2-ACCE8EF8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6FD44-EC2C-43E7-9DDA-B684FF46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Simulation und Karte: Nur ausgewählte Typcodes werden gerechnet.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49CBE-E36D-4089-B443-AEDC5EC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CDE86-D5BA-47DB-809A-C74CBFF3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Münzproxy: Nur ausgewählte und zeitlich aktive Typen zählen.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959AB-5252-4DB2-B528-10A3C6DE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99A8B-9AD0-48FD-A27D-DE83197A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Knoteninspektor: Aktuelle Typverteilung bleibt je Zeitschritt sichtbar.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A5B9E-6A13-4E9B-BA77-AA32E18D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677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5564F-921B-4A81-BC69-38035E97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T* = {m | m ausgewählt} · Bewegung nur falls m im Jahr aktiv 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1B924-BB90-4C8F-8917-6383B23E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Der Typfilter grenzt die simulierte Typmenge ein; die Typdatierung entscheidet anschließend, wann ein Typ wandern darf.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06183-A969-4BF6-AC88-0F4D977F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2125D-93BD-4966-AD0D-3237314F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5321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D4739-6F31-4C74-B951-0ED4479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KANTENFORMEL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6B7F4-40A5-4C79-8E84-61BF95F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Leitfähigkeit koppelt Reisezeit und Gewichtung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F98CA-AD9D-4027-B0DD-BEFE7DE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553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86F21-BFD3-4123-AE92-4A3165FF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57350"/>
            <a:ext cx="1002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Kᵢⱼ = Hᵢⱼ · Aᵢⱼ · Qₘ · (1 + αPᵢⱼ)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9FD2B-643C-449F-871D-A8E5350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2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Kᵢⱼ ist die Kantenleitfähigkeit. Reisezeit erzeugt erst die Kontaktchance; Handel, Modus, Terrain und Münzproxy filtern sie weiter.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CC61-6C03-4E75-AC12-6EC7155B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733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C9E89-7E79-4D18-A700-1D7EDEE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Hᵢⱼ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10056-3D4D-48EB-AF68-BEE49677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BEA9"/>
                </a:solidFill>
              </a:defRPr>
            </a:pPr>
            <a:r>
              <a:rPr sz="1125">
                <a:solidFill>
                  <a:srgbClr val="C9BEA9"/>
                </a:solidFill>
              </a:rPr>
              <a:t>größennormierter Handel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23625-C7A5-47E6-A474-18419E8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38550"/>
            <a:ext cx="1733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5F9F4-8A13-442E-8B34-C53C23C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671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Aᵢⱼ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28073-F2F6-4DD3-AC12-89FB994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24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BEA9"/>
                </a:solidFill>
              </a:defRPr>
            </a:pPr>
            <a:r>
              <a:rPr sz="1125">
                <a:solidFill>
                  <a:srgbClr val="C9BEA9"/>
                </a:solidFill>
              </a:rPr>
              <a:t>Reisechance aus Stunden/Jahr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124BA-5B08-409D-8EEE-FA26FA1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733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A9922-90F0-42B4-863B-3F98990E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671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Qₘ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75931-C0FF-42BE-A4BA-5C812AE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BEA9"/>
                </a:solidFill>
              </a:defRPr>
            </a:pPr>
            <a:r>
              <a:rPr sz="1125">
                <a:solidFill>
                  <a:srgbClr val="C9BEA9"/>
                </a:solidFill>
              </a:rPr>
              <a:t>Kapazität/Kosten je Modus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F30C0-A1BD-4F25-BE1A-73213EDE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38550"/>
            <a:ext cx="1733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D6542-EE11-4EE3-9E3C-592682C3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671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λ/(λ+d)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C6380-8EE6-4F56-A88D-ABD91C17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BEA9"/>
                </a:solidFill>
              </a:defRPr>
            </a:pPr>
            <a:r>
              <a:rPr sz="1125">
                <a:solidFill>
                  <a:srgbClr val="C9BEA9"/>
                </a:solidFill>
              </a:rPr>
              <a:t>Kontaktreichweite statt harter Grenze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48E6D-4150-4B28-A310-E38BF5E3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733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26D4E-4DCC-40C8-A9A1-F5A735D1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671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B45F"/>
                </a:solidFill>
              </a:defRPr>
            </a:pPr>
            <a:r>
              <a:rPr sz="2250" b="1">
                <a:solidFill>
                  <a:srgbClr val="E3B45F"/>
                </a:solidFill>
              </a:rPr>
              <a:t>1+αPᵢⱼ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D6F76-691F-4112-ABBF-D0963F38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BEA9"/>
                </a:solidFill>
              </a:defRPr>
            </a:pPr>
            <a:r>
              <a:rPr sz="1125">
                <a:solidFill>
                  <a:srgbClr val="C9BEA9"/>
                </a:solidFill>
              </a:rPr>
              <a:t>Typ- und datierungsgefilterter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32E8D-9086-4446-A9BB-33D183B8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8610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D6DE0-83D0-4018-9BFF-45AC5F15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72100"/>
            <a:ext cx="807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Aᵢⱼ = (900 h / hᵢⱼ) / (900 h / hᵢⱼ + 1)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51F65-26A9-46AE-BC22-5AD5A6B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24550"/>
            <a:ext cx="807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hᵢⱼ ist die reale Reisezeit der Kante. 900 h modellieren die aktive jährliche Reisezeit.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E21F3-226E-41CE-BBB5-DDC47B59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99545-E633-40D3-8F3A-20DD80C9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5376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E4340-FA88-444A-95B4-FE4B09E4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72141-C425-4B25-BE60-7DE3B08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Die Zeitsimulation erhält jeden Münztyp separat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C5EF8-FCB2-4FB3-ADCD-243F941C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10363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B3D94-7078-42DA-971E-B51D3DFC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xᵢ,m(t + Δt) = xᵢ,m(t) − ΣFᵢ→ⱼ,m + ΣFⱼ→ᵢ,m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15784-8FBB-4F19-988E-924C7F19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982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Für jeden Typ m wird eine eigene Menge pro Knoten geführt. Die Summe bleibt nicht nur global, sondern pro Typ erhalten.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B4B73-A7AB-4618-B68D-D62D4A6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363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7B377-8064-4905-AACD-DF4E8F1C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qᵢ,m = qᵢ falls m im Jahr aktiv ist, sonst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42229-2382-4A03-BA43-CDECADF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qᵢ entsteht aus Umlaufintensität und Kantenleitfähigkeit. Datierungen machen daraus eine typabhängige Bewegungsfreigabe.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6BF44-8915-4189-B745-995A461C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0363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6E69F-B1A9-4705-A1F0-6A02AE97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Fᵢ→ⱼ,m = xᵢ,m · qᵢ,m · Kᵢⱼ / ΣKᵢ*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74EC3-393E-4986-954D-2F082C2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Nur die aktive Menge eines Typs wandert proportional auf Nachbarkanten. Inaktive Typen bleiben an ihrem aktuellen Ort stehen.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222A9-7602-42F1-8247-29D9C65B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245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C9BEA9"/>
                </a:solidFill>
              </a:defRPr>
            </a:pPr>
            <a:r>
              <a:rPr sz="1425">
                <a:solidFill>
                  <a:srgbClr val="C9BEA9"/>
                </a:solidFill>
              </a:rPr>
              <a:t>Default: −250 bis −50 in 25-Jahres-Schritten. Jeder sichtbare Schritt umfasst intern 100 Subschritte; Startmengen werden als Vektor aus Typmengen simuliert.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518AD-73A6-43E4-8FA7-8F9C80CB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F453F-EEDB-40F0-BBBF-06BE7D86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34195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24482-9C13-488D-92DD-06096A24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RECHENBEISPIEL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78678-D998-413B-A9B1-31F0E31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Ein Teilstep verteilt einen Münztyp proportional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8D318-0C74-4347-8914-A623A5EC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50101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28F8D-7E90-4649-A26A-0EBDDF05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A startet mit 100 BS-4-Münzen · q = 0,10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A0FC2-F2CE-4D22-923D-E4038FB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Nur wenn BS 4 im Jahr aktiv ist, wandern 10 % ab: 100 · 0,10 = 10 Münzen dieses Typs.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36366-2005-4CA3-A935-C341C601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90650"/>
            <a:ext cx="50101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10F5F-1E77-466C-A292-6DDDAB4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K_AB = 0,8 · K_AC = 0,2 · ΣK_A* = 1,0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8C072-D2D3-4B6D-B6C5-27E19CB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Die relativen Kantengewichte bestimmen die Aufteilung: B erhält 80 %, C erhält 20 % des Abflusses.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D25FE-7DB5-4956-ABE3-48043B2F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2762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52376-39DB-40DA-83B2-16EE473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99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A: BS 4 NACH ABFLUSS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0F90E-4503-4BD5-992D-42711B3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F8354"/>
                </a:solidFill>
              </a:defRPr>
            </a:pPr>
            <a:r>
              <a:rPr sz="2250" b="1">
                <a:solidFill>
                  <a:srgbClr val="EF8354"/>
                </a:solidFill>
              </a:rPr>
              <a:t>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EEFF1-503D-467B-843E-C530EF47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2762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805DE-7CBC-425C-ABD5-4B1BFA9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099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B: BS 4 ZUFLUSS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B0C09-94CF-43D4-B41E-D65611C8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766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8B58B"/>
                </a:solidFill>
              </a:defRPr>
            </a:pPr>
            <a:r>
              <a:rPr sz="2250" b="1">
                <a:solidFill>
                  <a:srgbClr val="78B58B"/>
                </a:solidFill>
              </a:rPr>
              <a:t>+8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F4273-48F2-4A9E-978D-368BDDE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2762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10FB6-AE68-44F5-B0DA-C2C51DC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EA9"/>
                </a:solidFill>
              </a:defRPr>
            </a:pPr>
            <a:r>
              <a:rPr sz="900" b="1">
                <a:solidFill>
                  <a:srgbClr val="C9BEA9"/>
                </a:solidFill>
              </a:rPr>
              <a:t>C: BS 4 ZUFLUSS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1207A-A586-4774-922F-71E9818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+2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7C3EB-CA3D-4014-80AF-95D46B5D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960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5342B-1BBE-464E-92CB-2878BDFB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906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F_A→B = 100 · 0,10 · 0,8 / 1,0 = 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68C34-4036-4267-98AC-50C2FC1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00700"/>
            <a:ext cx="906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F_A→C = 100 · 0,10 · 0,2 / 1,0 =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230D7-7FBE-4F76-A335-72547ED9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15050"/>
            <a:ext cx="8115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CE5DB-0BE3-4C6F-8484-C270AA4D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200775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4D4"/>
                </a:solidFill>
              </a:defRPr>
            </a:pPr>
            <a:r>
              <a:rPr sz="1425">
                <a:solidFill>
                  <a:srgbClr val="FFF4D4"/>
                </a:solidFill>
              </a:rPr>
              <a:t>Die Typsumme bleibt erhalten: 90 + 8 + 2 = 100 BS-4-Münzen.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F285B7-5250-4C93-8886-72E7526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82B97-70B5-4EB6-9573-B57C35AE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60794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77D86-42F3-4FC1-B3E9-68C663E2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BEDIENLOGIK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A05CD-E19C-46AD-9D3E-900A7ADA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Das Interface macht die Simulation direkt sichtbar und prüfbar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e0b955c814968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352550"/>
            <a:ext cx="666750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E02C1-144D-4D41-B6D9-257CC42A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BE37F-56D5-41A8-BBE3-73E3AB92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430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Zeitregler und Play-Button steuern den Simulationszustand.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FC7B5-885E-4912-A12C-EB36D09E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A2676-0B8E-47A6-8621-09DCBFC6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Knotenfarbe zeigt die Summe der aktuell simulierten oder gefilterten Typen.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9430B-F72A-4DE4-B40C-A38DBC71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CB7B2-8096-48C9-9557-3D02BB01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Layer-Schalter zeigen Hypothesenkanten, Flüsse, Straßen, Seerouten und Labels.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394D1-AB34-4BFE-A4CA-41510E74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EFF97-52E2-4AF3-BDA7-A9972ABD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Die Zusammenfassung prüft Gesamtmenge, aktive Kanten und stärksten Knoten.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93484-4EF2-4F1A-8542-19FC67DB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9BD8D-BDCD-4D8B-90A5-C97B9BD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6613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CEDB5-0015-4D72-A94C-41F1300F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INSPEKTOREN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30B20-D713-430C-92F8-DBF4410F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Typmengen sind am Knoten editierbar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6f5d7cf29468b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352550"/>
            <a:ext cx="7239000" cy="407670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61D13-FF96-4BE9-9306-CDE11319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3028950" cy="32575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15FA1-1915-40F0-B9D1-8AF278A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WAS WIRD GEÄNDERT?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AEB23-E0EB-44B1-9721-6F07EBB7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6E9C0-527E-497E-8935-EC1048C4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Startmenge ist jetzt ein Vektor aus Typcodes statt nur eine Zahl.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9F02C-5EF7-4F63-8967-6A4AD8F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FCE8F-3802-477B-BA33-6FF675B6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Die Tabelle zeigt CSV-Funde, Datierung, Startwert und aktuelle Menge.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E5E36-272E-4278-A22B-8D21E5D9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116C9-4BAB-49C5-89A2-4DE8E7D7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95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Jede Typänderung triggert eine Neuberechnung der Simulation.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2CB61-6CA6-4C63-ACD9-181C05A9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94F00-62D7-4B61-A0B2-A0E5FD11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4972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E6C89-6317-4814-82BD-7806032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INTERFACE-OPTIONEN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62A78-CA8A-4EAD-A80E-2930B786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Die wichtigsten Einstellmöglichkeiten liegen in sechs Gruppen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CA32A-C45F-4F31-81F9-CADFE16C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D4B87-63A3-4DF0-B73B-6032D121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ZEIT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6C789-9A40-4DF9-92E3-01A00D5F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3EAD8"/>
                </a:solidFill>
              </a:defRPr>
            </a:pPr>
            <a:r>
              <a:rPr sz="1275">
                <a:solidFill>
                  <a:srgbClr val="F3EAD8"/>
                </a:solidFill>
              </a:rPr>
              <a:t>Startjahr, Dauer, 25-Jahres-Anzeige, Play und Reset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88076-4767-4109-81CA-4091CF1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4524E-1349-43CA-9A45-39B29F5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LEITFÄHIGKEIT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37E51-5F59-488E-913F-3BDC0C9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3EAD8"/>
                </a:solidFill>
              </a:defRPr>
            </a:pPr>
            <a:r>
              <a:rPr sz="1275">
                <a:solidFill>
                  <a:srgbClr val="F3EAD8"/>
                </a:solidFill>
              </a:rPr>
              <a:t>Münzproxy, Kontaktreichweite, Umlaufintensität und undatierte Bewegung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64821-4647-4D08-A1B1-C8066C6C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102D3-9E60-466B-B23A-F356BF73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TYPFILTER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421E3-892E-47FC-92B6-0F7FFB14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3EAD8"/>
                </a:solidFill>
              </a:defRPr>
            </a:pPr>
            <a:r>
              <a:rPr sz="1275">
                <a:solidFill>
                  <a:srgbClr val="F3EAD8"/>
                </a:solidFill>
              </a:rPr>
              <a:t>Typcodes auswählen, Simulation/Karte/Proxy einschränken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22FB3-0358-40C7-8134-A46392A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49A36-1A9C-4845-9D8B-A044922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NETZ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BCC8F-AE50-4708-A053-03906072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3EAD8"/>
                </a:solidFill>
              </a:defRPr>
            </a:pPr>
            <a:r>
              <a:rPr sz="1275">
                <a:solidFill>
                  <a:srgbClr val="F3EAD8"/>
                </a:solidFill>
              </a:rPr>
              <a:t>k-Nachbarn, Maximaldistanz, Kanten neu erzeugen und manuelle Kanten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7173B-88F9-4BB0-A1E0-0C8948F6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66E77-D109-42F8-ADA5-936A70B6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57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CE7D1-D1DA-46CA-BAE4-41F9037A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3EAD8"/>
                </a:solidFill>
              </a:defRPr>
            </a:pPr>
            <a:r>
              <a:rPr sz="1275">
                <a:solidFill>
                  <a:srgbClr val="F3EAD8"/>
                </a:solidFill>
              </a:rPr>
              <a:t>Hypothesenkanten, Flüsse, Straßen, Seerouten, Labels und Modusfilter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FDF9D-9AC3-455D-9759-F1469C6D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6C24A-B1F1-4D58-B966-E3D9A6F5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57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B45F"/>
                </a:solidFill>
              </a:defRPr>
            </a:pPr>
            <a:r>
              <a:rPr sz="900" b="1">
                <a:solidFill>
                  <a:srgbClr val="E3B45F"/>
                </a:solidFill>
              </a:rPr>
              <a:t>SZENARIO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39B7A-C8AC-4C82-9ACD-3866A75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3EAD8"/>
                </a:solidFill>
              </a:defRPr>
            </a:pPr>
            <a:r>
              <a:rPr sz="1275">
                <a:solidFill>
                  <a:srgbClr val="F3EAD8"/>
                </a:solidFill>
              </a:rPr>
              <a:t>Typmengen, Münzdatierungen, Import, Export und lokales Speichern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6D2B0-54CA-4079-8094-A092C678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BEA9"/>
                </a:solidFill>
              </a:defRPr>
            </a:pPr>
            <a:r>
              <a:rPr sz="1500">
                <a:solidFill>
                  <a:srgbClr val="C9BEA9"/>
                </a:solidFill>
              </a:rPr>
              <a:t>Das Interface ist dadurch nicht nur Visualisierung, sondern ein Szenario-Editor: Parameter ändern, Ergebnis beobachten, Hypothese exportieren.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D7F25-0388-46EF-A516-6D9DD59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78EFD-B13A-4E91-BC4C-112C9B9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436869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EE7D5-0F1D-4814-93A7-B0954B4A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LCP-GRENZE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735BE-11CE-4866-B05F-D6CDADF5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Least-Cost-Path bleibt eine dokumentierte Grenze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E6A05-FB14-4847-B27B-7B0DEBF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363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C991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01053-A3AE-46E8-8647-7926DE85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5735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4D4"/>
                </a:solidFill>
              </a:defRPr>
            </a:pPr>
            <a:r>
              <a:rPr sz="1950" b="1">
                <a:solidFill>
                  <a:srgbClr val="FFF4D4"/>
                </a:solidFill>
              </a:rPr>
              <a:t>Kostenfläche = f(Hang, Landcover, Wasser, Korridore, Modus)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6B94A-F004-42E6-9AB0-6393476F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982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Eine belastbare LCP benötigt Rasterdaten und mode-spezifische Passierbarkeiten. Diese Version nutzt nur einen Endpunkthöhen-Proxy.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B2847-2AE0-4F5A-AE4B-26AF71C5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4572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28416-A977-4337-83D5-9FD3447F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8354"/>
                </a:solidFill>
              </a:defRPr>
            </a:pPr>
            <a:r>
              <a:rPr sz="900" b="1">
                <a:solidFill>
                  <a:srgbClr val="EF8354"/>
                </a:solidFill>
              </a:rPr>
              <a:t>AKTUELLER 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64D02-1A67-4BD2-A1BF-0E053528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BEA9"/>
                </a:solidFill>
              </a:defRPr>
            </a:pPr>
            <a:r>
              <a:rPr sz="1500">
                <a:solidFill>
                  <a:srgbClr val="C9BEA9"/>
                </a:solidFill>
              </a:rPr>
              <a:t>Terrainfaktor aus Höhenunterschied der Endpunkte; kein DEM-Raster, keine Barrieren, keine echte Pfadgeometrie.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D1640-C18C-48D9-BA95-BCB270F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572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FDD2C-5CA1-443C-A969-D02086A2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B58B"/>
                </a:solidFill>
              </a:defRPr>
            </a:pPr>
            <a:r>
              <a:rPr sz="900" b="1">
                <a:solidFill>
                  <a:srgbClr val="78B58B"/>
                </a:solidFill>
              </a:rPr>
              <a:t>NÄCHSTE AUSBAUSTUFE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EC0CC-BAE0-4ED7-B32B-865717CC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148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BEA9"/>
                </a:solidFill>
              </a:defRPr>
            </a:pPr>
            <a:r>
              <a:rPr sz="1500">
                <a:solidFill>
                  <a:srgbClr val="C9BEA9"/>
                </a:solidFill>
              </a:rPr>
              <a:t>SRTM/DEM und Landcover in QGIS/GRASS zu Kostenrastern verarbeiten; LCP-Linien anschließend als Kanten importieren.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AB959-B580-4E11-9F37-FB25EA1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FD9CB-C625-48A1-B601-61D2B806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07190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D2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8B1AA5-16AA-4F45-B285-504E4CE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2F048-A0D0-42CB-8D47-4E98E9D0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Der Arbeitszyklus prüft Varianten iterativ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2894F-287E-4ED6-9826-50BDAE4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2190750" cy="2857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FA5DF-7124-40E0-BE44-447F4FA9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3B45F"/>
                </a:solidFill>
              </a:defRPr>
            </a:pPr>
            <a:r>
              <a:rPr sz="3000" b="1">
                <a:solidFill>
                  <a:srgbClr val="E3B45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AEB0C-B6DD-4A2C-99AD-2A2B71F5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4D4"/>
                </a:solidFill>
              </a:defRPr>
            </a:pPr>
            <a:r>
              <a:rPr sz="1650" b="1">
                <a:solidFill>
                  <a:srgbClr val="FFF4D4"/>
                </a:solidFill>
              </a:rPr>
              <a:t>Startverteilung setzen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5F35A-0F83-441D-AB53-151A4F5D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CSV-Fundmengen übernehmen oder eigene Anfangswerte eintragen.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FD763-9FAA-4807-B09E-E6FD58FD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76400"/>
            <a:ext cx="2190750" cy="2857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2E909-D409-4333-B114-492B097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3B45F"/>
                </a:solidFill>
              </a:defRPr>
            </a:pPr>
            <a:r>
              <a:rPr sz="3000" b="1">
                <a:solidFill>
                  <a:srgbClr val="E3B45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4299D-EC97-4E09-A892-82099C11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4D4"/>
                </a:solidFill>
              </a:defRPr>
            </a:pPr>
            <a:r>
              <a:rPr sz="1650" b="1">
                <a:solidFill>
                  <a:srgbClr val="FFF4D4"/>
                </a:solidFill>
              </a:rPr>
              <a:t>Netz prüfen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B4590-76EB-4EF0-B555-A5E82718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Kanten, Modi, Fluss-/Straßenlayer und Evidenzbasis kontrollieren.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E4CAA-BA2B-4FA1-A9E2-74235342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2190750" cy="2857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E0B25-67EC-4B7A-8B87-56AFF02C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3B45F"/>
                </a:solidFill>
              </a:defRPr>
            </a:pPr>
            <a:r>
              <a:rPr sz="3000" b="1">
                <a:solidFill>
                  <a:srgbClr val="E3B45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510F3-0069-4836-9B33-D3CAFF1E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4D4"/>
                </a:solidFill>
              </a:defRPr>
            </a:pPr>
            <a:r>
              <a:rPr sz="1650" b="1">
                <a:solidFill>
                  <a:srgbClr val="FFF4D4"/>
                </a:solidFill>
              </a:rPr>
              <a:t>Parameter variieren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E4C8C-9BA0-4C8A-8EFA-3DEFD73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Kontaktreichweite, Umlaufintensität, Typfilter und Siedlungsgrößen testen.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AC577-583E-4665-BBDE-5510FFCB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190750" cy="2857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2362C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DF41A-3F4A-412A-8B47-D356DFD9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3B45F"/>
                </a:solidFill>
              </a:defRPr>
            </a:pPr>
            <a:r>
              <a:rPr sz="3000" b="1">
                <a:solidFill>
                  <a:srgbClr val="E3B45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ADD34-CC02-4653-94B8-9B3C5739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4D4"/>
                </a:solidFill>
              </a:defRPr>
            </a:pPr>
            <a:r>
              <a:rPr sz="1650" b="1">
                <a:solidFill>
                  <a:srgbClr val="FFF4D4"/>
                </a:solidFill>
              </a:rPr>
              <a:t>Szenario sichern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D96AC-1547-4E6D-85E7-F936B44C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BEA9"/>
                </a:solidFill>
              </a:defRPr>
            </a:pPr>
            <a:r>
              <a:rPr sz="1275">
                <a:solidFill>
                  <a:srgbClr val="C9BEA9"/>
                </a:solidFill>
              </a:rPr>
              <a:t>Export/Import nutzt JSON, sodass Varianten vergleichbar bleiben.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71147-4116-45D7-AF83-7A633F14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1A15"/>
          </a:solidFill>
          <a:ln xmlns:a="http://schemas.openxmlformats.org/drawingml/2006/main" w="9525">
            <a:solidFill>
              <a:srgbClr val="E3B4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7CCDF-60D1-4993-A9C8-5CE14D79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4D4"/>
                </a:solidFill>
              </a:defRPr>
            </a:pPr>
            <a:r>
              <a:rPr sz="1275" b="1">
                <a:solidFill>
                  <a:srgbClr val="FFF4D4"/>
                </a:solidFill>
              </a:rPr>
              <a:t>Das Ergebnis ist kein finales Handelsmodell, sondern ein transparentes Labor für belastbare Varianten und Gegenhypothesen.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91A3A-5D8A-4366-8679-F244E7D2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96097-B97F-4D77-BE98-71447E4F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386257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74224-B791-4844-AB88-41DCC1C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ABSCHLUSS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59519-DCF6-4067-A1D0-565E95D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4D4"/>
                </a:solidFill>
              </a:defRPr>
            </a:pPr>
            <a:r>
              <a:rPr sz="2850" b="1">
                <a:solidFill>
                  <a:srgbClr val="FFF4D4"/>
                </a:solidFill>
              </a:rPr>
              <a:t>Quellen, Annahmen und Dateien bleiben nachvollziehbar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0091C-A603-4068-BE32-1743223A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86806-C05D-4D5C-853A-32E100D5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08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Fundort- und Münz-CSV aus dem Projektordner; Koordinaten über GeoNames-IDs.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A55DB-0F3A-4206-9D58-92F4F1B1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53683-A753-400D-BC53-F872673D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52650"/>
            <a:ext cx="908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Itiner-e als Vergleichsebene und Flusskorridorquelle; römische Straßen nicht automatisch als Eisenzeitkanten.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11B1E-9428-4386-BB69-2D9CE609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12821-5DA2-48F4-A666-D5FB354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908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Transportwerte orientieren sich an Itiner-e-Dokumentation und bleiben editierbar.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2A819-19E9-40DE-BFCF-E5A9CBF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70F8D-1E7B-4F0E-BFB7-C687C0DF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908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Least-Cost-Path-PDF: Multi-Resolution-LCP als methodische Grundlage für eine spätere DEM/QGIS-Erweiterung.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18204-39A0-435A-B2AA-32EA52E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3DF59-DDFD-4A06-BE50-A3CA028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08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README und App-Code dokumentieren Formeln, Grenzen, Typfilter und Reproduzierbarkeit.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25F6C-AB99-4220-A4A6-BEC64A76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A4034"/>
          </a:solidFill>
          <a:ln xmlns:a="http://schemas.openxmlformats.org/drawingml/2006/main" w="9525">
            <a:solidFill>
              <a:srgbClr val="4964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4CB6F-1674-4C9A-906F-A1CC7F4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29250"/>
            <a:ext cx="922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EAD8"/>
                </a:solidFill>
              </a:defRPr>
            </a:pPr>
            <a:r>
              <a:rPr sz="1350">
                <a:solidFill>
                  <a:srgbClr val="F3EAD8"/>
                </a:solidFill>
              </a:rPr>
              <a:t>Die Präsentation erklärt die derzeit implementierte Modelllogik. Historische Aussagen sollten als Hypothesen gelesen und mit archäologischer Evidenz gegengeprüft werden.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C6FA2-EFA6-4F40-BD44-6E724056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927F"/>
                </a:solidFill>
              </a:defRPr>
            </a:pPr>
            <a:r>
              <a:rPr sz="900">
                <a:solidFill>
                  <a:srgbClr val="9A927F"/>
                </a:solidFill>
              </a:rPr>
              <a:t>Eisenzeit-Netzwerk-Labor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235D8-ED53-4ACC-B0E6-CBF1CFB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3B45F"/>
                </a:solidFill>
              </a:defRPr>
            </a:pPr>
            <a:r>
              <a:rPr sz="975" b="1">
                <a:solidFill>
                  <a:srgbClr val="E3B45F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0475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2026-07-08T15:07:54.6880000Z</dcterms:created>
  <dcterms:modified xsi:type="dcterms:W3CDTF">2026-07-08T15:07:54.6880000Z</dcterms:modified>
</coreProperties>
</file>